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8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embeddedFontLs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Inter" panose="02000503000000020004"/>
      <p:regular r:id="rId24"/>
      <p:bold r:id="rId25"/>
      <p:italic r:id="rId26"/>
      <p:boldItalic r:id="rId27"/>
    </p:embeddedFont>
    <p:embeddedFont>
      <p:font typeface="Outfit ExtraBold"/>
      <p:bold r:id="rId28"/>
    </p:embeddedFont>
    <p:embeddedFont>
      <p:font typeface="Inter Medium" panose="02000503000000020004"/>
      <p:regular r:id="rId29"/>
      <p:bold r:id="rId30"/>
      <p:italic r:id="rId31"/>
      <p:boldItalic r:id="rId32"/>
    </p:embeddedFont>
    <p:embeddedFont>
      <p:font typeface="Outfit ExtraBold" charset="0"/>
      <p:bold r:id="rId33"/>
    </p:embeddedFont>
    <p:embeddedFont>
      <p:font typeface="Outfit"/>
      <p:regular r:id="rId34"/>
    </p:embeddedFont>
    <p:embeddedFont>
      <p:font typeface="Outfit SemiBold"/>
      <p:bold r:id="rId35"/>
    </p:embeddedFont>
    <p:embeddedFont>
      <p:font typeface="Inter SemiBold" panose="02000503000000020004"/>
      <p:regular r:id="rId36"/>
      <p:bold r:id="rId37"/>
      <p:boldItalic r:id="rId38"/>
    </p:embeddedFont>
    <p:embeddedFont>
      <p:font typeface="Outfit" charset="0"/>
      <p:regular r:id="rId39"/>
    </p:embeddedFont>
    <p:embeddedFont>
      <p:font typeface="Outfit SemiBold" charset="0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21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20.fntdata"/><Relationship Id="rId38" Type="http://schemas.openxmlformats.org/officeDocument/2006/relationships/font" Target="fonts/font19.fntdata"/><Relationship Id="rId37" Type="http://schemas.openxmlformats.org/officeDocument/2006/relationships/font" Target="fonts/font18.fntdata"/><Relationship Id="rId36" Type="http://schemas.openxmlformats.org/officeDocument/2006/relationships/font" Target="fonts/font17.fntdata"/><Relationship Id="rId35" Type="http://schemas.openxmlformats.org/officeDocument/2006/relationships/font" Target="fonts/font16.fntdata"/><Relationship Id="rId34" Type="http://schemas.openxmlformats.org/officeDocument/2006/relationships/font" Target="fonts/font15.fntdata"/><Relationship Id="rId33" Type="http://schemas.openxmlformats.org/officeDocument/2006/relationships/font" Target="fonts/font14.fntdata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2" name="Google Shape;242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7" name="Google Shape;32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339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12.png"/><Relationship Id="rId7" Type="http://schemas.openxmlformats.org/officeDocument/2006/relationships/image" Target="../media/image43.png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3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3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hyperlink" Target="https://prismlearn-ai-steel.vercel.app" TargetMode="External"/><Relationship Id="rId4" Type="http://schemas.openxmlformats.org/officeDocument/2006/relationships/image" Target="../media/image63.png"/><Relationship Id="rId3" Type="http://schemas.openxmlformats.org/officeDocument/2006/relationships/hyperlink" Target="https://prismlearn-ai-steel.vercel.app/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3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334000" y="1530697"/>
            <a:ext cx="1524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66750" y="6181725"/>
            <a:ext cx="16478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Pitch Deck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134475" y="6181725"/>
            <a:ext cx="239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Built for the AMD Developer Hackathon 2026.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894850" y="3278050"/>
            <a:ext cx="6402300" cy="9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50" b="0" i="0" u="none" strike="noStrike" cap="none">
                <a:solidFill>
                  <a:srgbClr val="7C4DFF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PrismLearning.AI</a:t>
            </a:r>
            <a:endParaRPr>
              <a:solidFill>
                <a:srgbClr val="7C4DFF"/>
              </a:solidFill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343275" y="4178647"/>
            <a:ext cx="55054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4961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Not a chatbot. Lumi drives your document itself.</a:t>
            </a:r>
            <a:endParaRPr lang="en-US" sz="1800" b="0" i="0" u="none" strike="noStrike" cap="none">
              <a:solidFill>
                <a:srgbClr val="434961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pic>
        <p:nvPicPr>
          <p:cNvPr id="92" name="Google Shape;92;p13" title="mascot-lumi-logo (1)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850415" y="753376"/>
            <a:ext cx="2491175" cy="24911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3547745" y="4672965"/>
            <a:ext cx="5210175" cy="455930"/>
          </a:xfrm>
          <a:prstGeom prst="roundRect">
            <a:avLst>
              <a:gd name="adj" fmla="val 48741"/>
            </a:avLst>
          </a:prstGeom>
          <a:solidFill>
            <a:srgbClr val="7C4DFF"/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2" name="Google Shape;91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643630" y="4765040"/>
            <a:ext cx="175895" cy="2946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9;p13"/>
          <p:cNvSpPr txBox="1"/>
          <p:nvPr/>
        </p:nvSpPr>
        <p:spPr>
          <a:xfrm>
            <a:off x="3547745" y="4672965"/>
            <a:ext cx="5387340" cy="38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altLang="en-US" sz="1800" b="1" i="0" u="none" strike="noStrike" cap="none">
                <a:solidFill>
                  <a:schemeClr val="bg1"/>
                </a:solidFill>
                <a:latin typeface="Outfit ExtraBold" charset="0"/>
                <a:ea typeface="Inter Medium" panose="02000503000000020004"/>
                <a:cs typeface="Outfit ExtraBold" charset="0"/>
                <a:sym typeface="Inter Medium" panose="02000503000000020004"/>
              </a:rPr>
              <a:t>Built with AMD Instinct GPUs x Fireworks AI</a:t>
            </a:r>
            <a:endParaRPr lang="en-PH" altLang="en-US" sz="1800" b="1" i="0" u="none" strike="noStrike" cap="none">
              <a:solidFill>
                <a:schemeClr val="bg1"/>
              </a:solidFill>
              <a:latin typeface="Outfit ExtraBold" charset="0"/>
              <a:ea typeface="Inter Medium" panose="02000503000000020004"/>
              <a:cs typeface="Outfit ExtraBold" charset="0"/>
              <a:sym typeface="Inter Medium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286000"/>
            <a:ext cx="34607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65575" y="2286000"/>
            <a:ext cx="34607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2286000"/>
            <a:ext cx="34608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66750" y="6181725"/>
            <a:ext cx="15906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Problem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1372850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02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2025" y="25812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962025" y="3190875"/>
            <a:ext cx="154019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Cognitive Load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3571875"/>
            <a:ext cx="2870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E425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Flat PDFs create a dense wall of unabsorbable text, quickly exhausting student retention capacities and focus spans.</a:t>
            </a:r>
            <a:endParaRPr lang="en-US" sz="1125" b="0" i="0" u="none" strike="noStrike" cap="none">
              <a:solidFill>
                <a:srgbClr val="3E425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60850" y="25812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4660850" y="3190875"/>
            <a:ext cx="174021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Passive Dumping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660850" y="3571875"/>
            <a:ext cx="2870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E425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Standard AI chatbots simply hand over answers without guidance, short-circuiting critical thinking and conceptual learning.</a:t>
            </a:r>
            <a:endParaRPr lang="en-US" sz="1125" b="0" i="0" u="none" strike="noStrike" cap="none">
              <a:solidFill>
                <a:srgbClr val="3E425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359675" y="25812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8359675" y="3190875"/>
            <a:ext cx="192024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Hallucination Risks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359675" y="3571875"/>
            <a:ext cx="28702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E425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Unconstrained LLMs easily pull students completely out of the core curriculum by generating unsupported factual errors.</a:t>
            </a:r>
            <a:endParaRPr lang="en-US" sz="1125" b="0" i="0" u="none" strike="noStrike" cap="none">
              <a:solidFill>
                <a:srgbClr val="3E425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8585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760862" y="270510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848350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Passive reading is dead.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66750" y="6181725"/>
            <a:ext cx="15811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Solution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372850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03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66750" y="1847850"/>
            <a:ext cx="6023252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200EA"/>
                </a:solidFill>
                <a:latin typeface="Outfit SemiBold" charset="0"/>
                <a:ea typeface="Outfit SemiBold"/>
                <a:cs typeface="Outfit SemiBold" charset="0"/>
                <a:sym typeface="Outfit SemiBold"/>
              </a:rPr>
              <a:t>Not a </a:t>
            </a:r>
            <a:r>
              <a:rPr lang="en-US" sz="1800" b="1" i="0" u="none" strike="noStrike" cap="none">
                <a:solidFill>
                  <a:srgbClr val="6200EA"/>
                </a:solidFill>
                <a:latin typeface="Outfit SemiBold" charset="0"/>
                <a:ea typeface="Outfit SemiBold"/>
                <a:cs typeface="Outfit SemiBold" charset="0"/>
                <a:sym typeface="Outfit SemiBold"/>
              </a:rPr>
              <a:t>chat</a:t>
            </a:r>
            <a:r>
              <a:rPr lang="en-PH" altLang="en-US" sz="1800" b="1" i="0" u="none" strike="noStrike" cap="none">
                <a:solidFill>
                  <a:srgbClr val="6200EA"/>
                </a:solidFill>
                <a:latin typeface="Outfit SemiBold" charset="0"/>
                <a:ea typeface="Outfit SemiBold"/>
                <a:cs typeface="Outfit SemiBold" charset="0"/>
                <a:sym typeface="Outfit SemiBold"/>
              </a:rPr>
              <a:t>b</a:t>
            </a:r>
            <a:r>
              <a:rPr lang="en-US" sz="1800" b="1" i="0" u="none" strike="noStrike" cap="none">
                <a:solidFill>
                  <a:srgbClr val="6200EA"/>
                </a:solidFill>
                <a:latin typeface="Outfit SemiBold" charset="0"/>
                <a:ea typeface="Outfit SemiBold"/>
                <a:cs typeface="Outfit SemiBold" charset="0"/>
                <a:sym typeface="Outfit SemiBold"/>
              </a:rPr>
              <a:t>ot</a:t>
            </a:r>
            <a:r>
              <a:rPr lang="en-US" sz="1800" b="0" i="0" u="none" strike="noStrike" cap="none">
                <a:solidFill>
                  <a:srgbClr val="6200EA"/>
                </a:solidFill>
                <a:latin typeface="Outfit SemiBold" charset="0"/>
                <a:ea typeface="Outfit SemiBold"/>
                <a:cs typeface="Outfit SemiBold" charset="0"/>
                <a:sym typeface="Outfit SemiBold"/>
              </a:rPr>
              <a:t>. Not a flashcard app.</a:t>
            </a:r>
            <a:endParaRPr lang="en-US" sz="1800" b="0" i="0" u="none" strike="noStrike" cap="none">
              <a:solidFill>
                <a:srgbClr val="6200EA"/>
              </a:solidFill>
              <a:latin typeface="Outfit SemiBold" charset="0"/>
              <a:ea typeface="Outfit SemiBold"/>
              <a:cs typeface="Outfit SemiBold" charset="0"/>
              <a:sym typeface="Outfit SemiBold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1095375" y="2276475"/>
            <a:ext cx="4841240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02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Grounded RAG:</a:t>
            </a: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 pristine pipeline strictly locked within the uploaded document bounds to maintain 100% curriculum bounds.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95375" y="3238500"/>
            <a:ext cx="4758055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02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Scaffolded UX:</a:t>
            </a: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The AI refuses to give final answers, strategically probing and guiding the student step-by-step to answers.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1095375" y="4200525"/>
            <a:ext cx="5307806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02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Agentic Control:</a:t>
            </a: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Every reply is JSON that drives the UI — scroll, highlight, unlock, gamify. Never just chat.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Lumi Drives the Document — Not the Chat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32" name="Google Shape;132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" y="22955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" y="32575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" y="4219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15" y="1705610"/>
            <a:ext cx="6060440" cy="3477260"/>
          </a:xfrm>
          <a:prstGeom prst="rect">
            <a:avLst/>
          </a:prstGeom>
          <a:ln w="12700" cmpd="sng">
            <a:solidFill>
              <a:schemeClr val="bg1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071812" y="2228850"/>
            <a:ext cx="12763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053387" y="3829050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27433" y="2074076"/>
            <a:ext cx="1937742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66750" y="6181725"/>
            <a:ext cx="24860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Competitive Landscape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372850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04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5095875" y="1314450"/>
            <a:ext cx="20002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200EA"/>
                </a:solidFill>
                <a:latin typeface="Outfit"/>
                <a:ea typeface="Outfit"/>
                <a:cs typeface="Outfit"/>
                <a:sym typeface="Outfit"/>
              </a:rPr>
              <a:t>AGENTIC / ACTIVE INTERFACE</a:t>
            </a:r>
            <a:endParaRPr lang="en-US" sz="975" b="1" i="0" u="none" strike="noStrike" cap="none">
              <a:solidFill>
                <a:srgbClr val="6200E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610225" y="5638800"/>
            <a:ext cx="971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5C627A"/>
                </a:solidFill>
                <a:latin typeface="Outfit"/>
                <a:ea typeface="Outfit"/>
                <a:cs typeface="Outfit"/>
                <a:sym typeface="Outfit"/>
              </a:rPr>
              <a:t>PASSIVE TOOL</a:t>
            </a:r>
            <a:endParaRPr lang="en-US" sz="975" b="1" i="0" u="none" strike="noStrike" cap="none">
              <a:solidFill>
                <a:srgbClr val="5C627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83890" y="3476625"/>
            <a:ext cx="15335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5C627A"/>
                </a:solidFill>
                <a:latin typeface="Outfit"/>
                <a:ea typeface="Outfit"/>
                <a:cs typeface="Outfit"/>
                <a:sym typeface="Outfit"/>
              </a:rPr>
              <a:t>GENERIC KNOWLEDGE</a:t>
            </a:r>
            <a:endParaRPr lang="en-US" sz="975" b="1" i="0" u="none" strike="noStrike" cap="none">
              <a:solidFill>
                <a:srgbClr val="5C627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603134" y="3476625"/>
            <a:ext cx="1704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6200EA"/>
                </a:solidFill>
                <a:latin typeface="Outfit"/>
                <a:ea typeface="Outfit"/>
                <a:cs typeface="Outfit"/>
                <a:sym typeface="Outfit"/>
              </a:rPr>
              <a:t>CURRICULUM GROUNDED</a:t>
            </a:r>
            <a:endParaRPr lang="en-US" sz="975" b="1" i="0" u="none" strike="noStrike" cap="none">
              <a:solidFill>
                <a:srgbClr val="6200E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1762125" y="3248025"/>
            <a:ext cx="8667750" cy="952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69212" y="235982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253412" y="397192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715250" y="2207418"/>
            <a:ext cx="1619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Why We Win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124063" y="1852600"/>
            <a:ext cx="868680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" y="1885950"/>
            <a:ext cx="25717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429000" y="1885950"/>
            <a:ext cx="25717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191250" y="1885950"/>
            <a:ext cx="25717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953500" y="1885950"/>
            <a:ext cx="257175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66750" y="6181725"/>
            <a:ext cx="1828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Architecture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1372850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05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2600325" y="4514850"/>
            <a:ext cx="3905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6200E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01</a:t>
            </a:r>
            <a:endParaRPr lang="en-US" sz="2850" b="0" i="0" u="none" strike="noStrike" cap="none">
              <a:solidFill>
                <a:srgbClr val="6200E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295900" y="4514850"/>
            <a:ext cx="457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6200E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02</a:t>
            </a:r>
            <a:endParaRPr lang="en-US" sz="2850" b="0" i="0" u="none" strike="noStrike" cap="none">
              <a:solidFill>
                <a:srgbClr val="6200E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8058150" y="4514850"/>
            <a:ext cx="4572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6200E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03</a:t>
            </a:r>
            <a:endParaRPr lang="en-US" sz="2850" b="0" i="0" u="none" strike="noStrike" cap="none">
              <a:solidFill>
                <a:srgbClr val="6200E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0810875" y="4514850"/>
            <a:ext cx="466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6200E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04</a:t>
            </a:r>
            <a:endParaRPr lang="en-US" sz="2850" b="0" i="0" u="none" strike="noStrike" cap="none">
              <a:solidFill>
                <a:srgbClr val="6200E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4400" y="21336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914400" y="2743200"/>
            <a:ext cx="21802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200EA"/>
                </a:solidFill>
                <a:latin typeface="Outfit"/>
                <a:ea typeface="Outfit"/>
                <a:cs typeface="Outfit"/>
                <a:sym typeface="Outfit"/>
              </a:rPr>
              <a:t>Frontend</a:t>
            </a:r>
            <a:endParaRPr lang="en-US" sz="1350" b="1" i="0" u="none" strike="noStrike" cap="none">
              <a:solidFill>
                <a:srgbClr val="6200E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914400" y="3076575"/>
            <a:ext cx="2076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Next.js 14, Tailwind CSS, and Framer Motion for sleek glassmorphic transitions.</a:t>
            </a:r>
            <a:endParaRPr lang="en-US" sz="1050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5" name="Google Shape;175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676650" y="21336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3676650" y="2743200"/>
            <a:ext cx="21802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200EA"/>
                </a:solidFill>
                <a:latin typeface="Outfit"/>
                <a:ea typeface="Outfit"/>
                <a:cs typeface="Outfit"/>
                <a:sym typeface="Outfit"/>
              </a:rPr>
              <a:t>State Engine</a:t>
            </a:r>
            <a:endParaRPr lang="en-US" sz="1350" b="1" i="0" u="none" strike="noStrike" cap="none">
              <a:solidFill>
                <a:srgbClr val="6200E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3676650" y="3076575"/>
            <a:ext cx="2076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Zustand state engine catches JSON payloads for instant, low-latency DOM manipulation.</a:t>
            </a:r>
            <a:endParaRPr lang="en-US" sz="1050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438900" y="21336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6438900" y="2743200"/>
            <a:ext cx="21802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200EA"/>
                </a:solidFill>
                <a:latin typeface="Outfit"/>
                <a:ea typeface="Outfit"/>
                <a:cs typeface="Outfit"/>
                <a:sym typeface="Outfit"/>
              </a:rPr>
              <a:t>Backend</a:t>
            </a:r>
            <a:endParaRPr lang="en-US" sz="1350" b="1" i="0" u="none" strike="noStrike" cap="none">
              <a:solidFill>
                <a:srgbClr val="6200E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438900" y="3076575"/>
            <a:ext cx="2076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Python FastAPI &amp; Pydantic designed for highly performant text extraction from documents.</a:t>
            </a:r>
            <a:endParaRPr lang="en-US" sz="1050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81" name="Google Shape;181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201150" y="21336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9201150" y="2743200"/>
            <a:ext cx="21802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200EA"/>
                </a:solidFill>
                <a:latin typeface="Outfit"/>
                <a:ea typeface="Outfit"/>
                <a:cs typeface="Outfit"/>
                <a:sym typeface="Outfit"/>
              </a:rPr>
              <a:t>Data &amp; Auth</a:t>
            </a:r>
            <a:endParaRPr lang="en-US" sz="1350" b="1" i="0" u="none" strike="noStrike" cap="none">
              <a:solidFill>
                <a:srgbClr val="6200E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9201150" y="3076575"/>
            <a:ext cx="2076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Supabase PostgreSQL with Clerk auth; uploads stay in memory only, never stored.</a:t>
            </a:r>
            <a:endParaRPr lang="en-US" sz="1050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84" name="Google Shape;184;p17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038225" y="22574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3776662" y="22574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6538912" y="22574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9334500" y="225742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The Engineering Stack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314575"/>
            <a:ext cx="5262562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62687" y="2314575"/>
            <a:ext cx="5262562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666750" y="6181725"/>
            <a:ext cx="2362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Infrastructure Choice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11372850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06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1352550" y="2657475"/>
            <a:ext cx="444555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62828"/>
                </a:solidFill>
                <a:latin typeface="Outfit"/>
                <a:ea typeface="Outfit"/>
                <a:cs typeface="Outfit"/>
                <a:sym typeface="Outfit"/>
              </a:rPr>
              <a:t>Traditional Cloud APIs</a:t>
            </a:r>
            <a:endParaRPr lang="en-US" sz="1800" b="1" i="0" u="none" strike="noStrike" cap="none">
              <a:solidFill>
                <a:srgbClr val="C6282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6929437" y="2667000"/>
            <a:ext cx="445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E7D32"/>
                </a:solidFill>
                <a:latin typeface="Outfit"/>
                <a:ea typeface="Outfit"/>
                <a:cs typeface="Outfit"/>
                <a:sym typeface="Outfit"/>
              </a:rPr>
              <a:t>Fireworks AI on AMD Instinct™</a:t>
            </a:r>
            <a:endParaRPr lang="en-US" sz="1800" b="1" i="0" u="none" strike="noStrike" cap="none">
              <a:solidFill>
                <a:srgbClr val="2E7D3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09650" y="26860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1238250" y="3133725"/>
            <a:ext cx="43481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High latency ruins real-time agentic interaction.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1238250" y="3533775"/>
            <a:ext cx="43481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Prohibitively expensive inference costs limit growth.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1238250" y="3933825"/>
            <a:ext cx="43481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Breaks immersion of a fluid, live conversational tutor.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05" name="Google Shape;205;p18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615112" y="26955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6862762" y="3143250"/>
            <a:ext cx="43100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Blazing fast Tokens-Per-Second output capacity.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862762" y="3543300"/>
            <a:ext cx="43100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Sub-second UI mutation latency for live updates.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6862762" y="3943350"/>
            <a:ext cx="43100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Serverless scaling on AMD Instinct™ GPUs, low cost.</a:t>
            </a:r>
            <a:endParaRPr lang="en-US" sz="120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09" name="Google Shape;209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09650" y="31718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09650" y="35718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009650" y="39719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615112" y="3181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615112" y="35814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6615112" y="39814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666750" y="523875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Powered by </a:t>
            </a:r>
            <a:r>
              <a:rPr lang="en-US" sz="2850" b="1" i="0" u="none" strike="noStrike" cap="none">
                <a:solidFill>
                  <a:srgbClr val="7C4DFF"/>
                </a:solidFill>
                <a:latin typeface="Outfit"/>
                <a:ea typeface="Outfit"/>
                <a:cs typeface="Outfit"/>
                <a:sym typeface="Outfit"/>
              </a:rPr>
              <a:t>Fireworks AI &amp; AMD</a:t>
            </a:r>
            <a:endParaRPr>
              <a:solidFill>
                <a:srgbClr val="7C4DFF"/>
              </a:solidFill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666750" y="4700000"/>
            <a:ext cx="108585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7C4D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One architecture, three models </a:t>
            </a:r>
            <a:r>
              <a:rPr lang="en-US" sz="1200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 gpt-oss-120b for tutoring, Gemma 3 27B for flashcards, Gemma 4 for Enterprise, all served on AMD Instinct™ GPUs.</a:t>
            </a:r>
            <a:endParaRPr lang="en-US" sz="1200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1933575"/>
            <a:ext cx="34607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65575" y="1933575"/>
            <a:ext cx="34607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1933575"/>
            <a:ext cx="34608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666750" y="6181725"/>
            <a:ext cx="1952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Core Features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11382375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07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962025" y="3419487"/>
            <a:ext cx="287010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core text remains locked behind frosted glass, unblurring section-by-section as student mastery is proven.</a:t>
            </a:r>
            <a:endParaRPr lang="en-US" sz="112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4660875" y="3357637"/>
            <a:ext cx="28701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Low-latency, vocal interaction driven securely by the Web Speech API for natural conversation.</a:t>
            </a:r>
            <a:endParaRPr lang="en-US" sz="112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8359725" y="3382362"/>
            <a:ext cx="2870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Instantly compiles smart micro-quizzes into cleanly formatted PDF flashcard cutouts for physical study.</a:t>
            </a:r>
            <a:endParaRPr lang="en-US" sz="112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30" name="Google Shape;230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2025" y="22288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962025" y="2838450"/>
            <a:ext cx="30136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Fog of War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32" name="Google Shape;232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60850" y="22288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4660850" y="2838450"/>
            <a:ext cx="30136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Walkie-Talkie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34" name="Google Shape;234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359675" y="222885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8359675" y="2838450"/>
            <a:ext cx="301381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Printable Decks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36" name="Google Shape;236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62037" y="235267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803725" y="2352675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8483500" y="23526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The Active Learning Canvas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1933575"/>
            <a:ext cx="34607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65575" y="1933575"/>
            <a:ext cx="34607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1933575"/>
            <a:ext cx="34608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666750" y="6181725"/>
            <a:ext cx="1952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The Learning Engine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11382375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08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962025" y="2809887"/>
            <a:ext cx="287010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Before revealing a quiz answer, students self-rate their confidence — feedback then flags over- or under-confidence.</a:t>
            </a:r>
            <a:endParaRPr lang="en-US" sz="112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4660875" y="2748037"/>
            <a:ext cx="28701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Mastering a chapter unlocks a themed, timed practice exam that proves the material actually stuck.</a:t>
            </a:r>
            <a:endParaRPr lang="en-US" sz="112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8359725" y="2772762"/>
            <a:ext cx="2870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Flashcards resurface on a spaced-repetition schedule; mastery quietly decays until reviewed again.</a:t>
            </a:r>
            <a:endParaRPr lang="en-US" sz="112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962025" y="2228850"/>
            <a:ext cx="30136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Confidence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4660850" y="2228850"/>
            <a:ext cx="301365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Boss Battles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8359675" y="2228850"/>
            <a:ext cx="301381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Mastery Decay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Beyond Flashcards: The Learning Engine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286000"/>
            <a:ext cx="34607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65575" y="2286000"/>
            <a:ext cx="34607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64400" y="2286000"/>
            <a:ext cx="34608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666750" y="6181725"/>
            <a:ext cx="19240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Safety &amp; Trust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11372850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09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51" name="Google Shape;251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962025" y="25812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962025" y="3190875"/>
            <a:ext cx="1800225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 charset="0"/>
                <a:ea typeface="Outfit"/>
                <a:cs typeface="Outfit" charset="0"/>
                <a:sym typeface="Outfit"/>
              </a:rPr>
              <a:t>Data </a:t>
            </a: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Sovereignty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962025" y="3571875"/>
            <a:ext cx="2870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E425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Zero-retention data framework. Uploaded curriculum assets are fully discarded post-session and never used for base training.</a:t>
            </a:r>
            <a:endParaRPr lang="en-US" sz="1125" b="0" i="0" u="none" strike="noStrike" cap="none">
              <a:solidFill>
                <a:srgbClr val="3E425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54" name="Google Shape;254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660850" y="25812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4660850" y="3190875"/>
            <a:ext cx="22802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Anti-Cheat Guardrails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4660850" y="3571875"/>
            <a:ext cx="28701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E425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Agentic Tutor is hard-prompted to never write essays, output source copy blocks, or hand over final homework answers directly.</a:t>
            </a:r>
            <a:endParaRPr lang="en-US" sz="1125" b="0" i="0" u="none" strike="noStrike" cap="none">
              <a:solidFill>
                <a:srgbClr val="3E425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57" name="Google Shape;257;p20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8359675" y="25812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8359675" y="3190875"/>
            <a:ext cx="193024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Hallucination-Free</a:t>
            </a:r>
            <a:endParaRPr lang="en-US" sz="16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8359675" y="3571875"/>
            <a:ext cx="287029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E425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Strict structural system prompts constrain the model to instruct solely from parameters defined in your syllabus.</a:t>
            </a:r>
            <a:endParaRPr lang="en-US" sz="1125" b="0" i="0" u="none" strike="noStrike" cap="none">
              <a:solidFill>
                <a:srgbClr val="3E425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60" name="Google Shape;260;p20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8585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4784675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8483500" y="27051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Built for Academic Integrity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116931"/>
            <a:ext cx="3429000" cy="291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81500" y="2002631"/>
            <a:ext cx="3429000" cy="291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096250" y="2116931"/>
            <a:ext cx="3429000" cy="291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666750" y="6181725"/>
            <a:ext cx="3028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Tapping into the $340 Billion global EdTech market.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11372850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10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249100" y="1747800"/>
            <a:ext cx="1693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C4D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MOST POPULAR</a:t>
            </a:r>
            <a:endParaRPr sz="1500" b="1">
              <a:solidFill>
                <a:srgbClr val="7C4DFF"/>
              </a:solidFill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841057" y="2459831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1E202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Free Tier</a:t>
            </a:r>
            <a:endParaRPr lang="en-US" sz="1575" b="0" i="0" u="none" strike="noStrike" cap="none">
              <a:solidFill>
                <a:srgbClr val="1E202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914400" y="2755106"/>
            <a:ext cx="29337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Basic exploration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914400" y="3083718"/>
            <a:ext cx="29337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6200E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Free</a:t>
            </a:r>
            <a:endParaRPr lang="en-US" sz="3000" b="0" i="0" u="none" strike="noStrike" cap="none">
              <a:solidFill>
                <a:srgbClr val="6200E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1104900" y="4140993"/>
            <a:ext cx="2743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Ingest standard PDFs</a:t>
            </a:r>
            <a:endParaRPr lang="en-US" sz="105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1104900" y="4417218"/>
            <a:ext cx="2743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Core active tutor chat</a:t>
            </a:r>
            <a:endParaRPr lang="en-US" sz="105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565808" y="2355056"/>
            <a:ext cx="306038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Pro Tier</a:t>
            </a:r>
            <a:endParaRPr lang="en-US" sz="1575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638675" y="2650331"/>
            <a:ext cx="29146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Designed for power students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638675" y="2978943"/>
            <a:ext cx="29146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6200E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$10/mo</a:t>
            </a:r>
            <a:endParaRPr lang="en-US" sz="3000" b="0" i="0" u="none" strike="noStrike" cap="none">
              <a:solidFill>
                <a:srgbClr val="6200E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829175" y="3740943"/>
            <a:ext cx="2724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Advanced UI limits unlocked</a:t>
            </a:r>
            <a:endParaRPr lang="en-US" sz="105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829175" y="4017168"/>
            <a:ext cx="2724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Unlimited syllabus uploads</a:t>
            </a:r>
            <a:endParaRPr lang="en-US" sz="105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829175" y="4293393"/>
            <a:ext cx="2724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Full Walkie-Talkie voice tutor</a:t>
            </a:r>
            <a:endParaRPr lang="en-US" sz="105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8270557" y="2459831"/>
            <a:ext cx="308038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1E202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Campus Tier</a:t>
            </a:r>
            <a:endParaRPr lang="en-US" sz="1575" b="0" i="0" u="none" strike="noStrike" cap="none">
              <a:solidFill>
                <a:srgbClr val="1E202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8343900" y="2755106"/>
            <a:ext cx="29337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Institutional standard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8343900" y="3083718"/>
            <a:ext cx="29337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6200E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B2B</a:t>
            </a:r>
            <a:endParaRPr lang="en-US" sz="3000" b="0" i="0" u="none" strike="noStrike" cap="none">
              <a:solidFill>
                <a:srgbClr val="6200EA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8534400" y="4140993"/>
            <a:ext cx="2743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Dedicated Gemma 4 on AMD Instinct™</a:t>
            </a:r>
            <a:endParaRPr lang="en-US" sz="105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8534400" y="4417218"/>
            <a:ext cx="2743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D3142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Teacher Analytics dashboards</a:t>
            </a:r>
            <a:endParaRPr lang="en-US" sz="1050" b="0" i="0" u="none" strike="noStrike" cap="none">
              <a:solidFill>
                <a:srgbClr val="2D3142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92" name="Google Shape;292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4400" y="416956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4400" y="444579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638675" y="376951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638675" y="404574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638675" y="432196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343900" y="416956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343900" y="4445793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666750" y="523875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A Scalable SaaS Engine</a:t>
            </a:r>
            <a:endParaRPr lang="en-US" sz="285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71662" y="3209925"/>
            <a:ext cx="8477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" y="3581400"/>
            <a:ext cx="3257550" cy="1182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662612" y="3209925"/>
            <a:ext cx="8667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67225" y="3581400"/>
            <a:ext cx="32575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401175" y="3209925"/>
            <a:ext cx="990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267700" y="3581400"/>
            <a:ext cx="3257550" cy="1182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2"/>
          <p:cNvSpPr txBox="1"/>
          <p:nvPr/>
        </p:nvSpPr>
        <p:spPr>
          <a:xfrm>
            <a:off x="666750" y="6181725"/>
            <a:ext cx="22002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| Strategic Roadmap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11401425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11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1238238" y="2805125"/>
            <a:ext cx="9715500" cy="285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2143125" y="2667000"/>
            <a:ext cx="304800" cy="30480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5943600" y="2667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744075" y="2667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866775" y="3781425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MVP Launch</a:t>
            </a:r>
            <a:endParaRPr lang="en-US" sz="120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866775" y="4010025"/>
            <a:ext cx="2857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Fireworks AI multi-model tutor shipped — gamified, adaptive, and grounded in the source document.</a:t>
            </a:r>
            <a:endParaRPr lang="en-US" sz="97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4667250" y="3781425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Shared Acrylic Spaces</a:t>
            </a:r>
            <a:endParaRPr lang="en-US" sz="120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4667250" y="4010025"/>
            <a:ext cx="2857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Collaborative multi-student workspaces built for peer-to-peer interactive study.</a:t>
            </a:r>
            <a:endParaRPr lang="en-US" sz="97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8467725" y="3781425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Enterprise LMS Hooks</a:t>
            </a:r>
            <a:endParaRPr lang="en-US" sz="1200" b="1" i="0" u="none" strike="noStrike" cap="none">
              <a:solidFill>
                <a:srgbClr val="1E202C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8467725" y="4010025"/>
            <a:ext cx="2857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3496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Direct system hooks into Canvas/Blackboard, powered by dedicated Gemma 4 on AMD Instinct™ GPUs.</a:t>
            </a:r>
            <a:endParaRPr lang="en-US" sz="975" b="0" i="0" u="none" strike="noStrike" cap="none">
              <a:solidFill>
                <a:srgbClr val="43496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666750" y="523875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The Future of </a:t>
            </a:r>
            <a:r>
              <a:rPr lang="en-US" sz="2850" b="1" i="0" u="none" strike="noStrike" cap="none">
                <a:solidFill>
                  <a:srgbClr val="7C4DFF"/>
                </a:solidFill>
                <a:latin typeface="Outfit"/>
                <a:ea typeface="Outfit"/>
                <a:cs typeface="Outfit"/>
                <a:sym typeface="Outfit"/>
              </a:rPr>
              <a:t>PrismLearning</a:t>
            </a:r>
            <a:endParaRPr>
              <a:solidFill>
                <a:srgbClr val="7C4D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3"/>
          <p:cNvSpPr txBox="1"/>
          <p:nvPr/>
        </p:nvSpPr>
        <p:spPr>
          <a:xfrm>
            <a:off x="666750" y="6181725"/>
            <a:ext cx="2152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PrismLearning.AI Live Demo Session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9448800" y="6181725"/>
            <a:ext cx="20764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[Switching to Live Agentic Demo...]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3958232" y="1692622"/>
            <a:ext cx="427553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1E202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Enough talking.</a:t>
            </a:r>
            <a:endParaRPr lang="en-US" sz="4800" b="0" i="0" u="none" strike="noStrike" cap="none">
              <a:solidFill>
                <a:srgbClr val="1E202C"/>
              </a:solidFill>
              <a:latin typeface="Outfit ExtraBold"/>
              <a:ea typeface="Outfit ExtraBold"/>
              <a:cs typeface="Outfit ExtraBold"/>
              <a:sym typeface="Outfit ExtraBold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4652975" y="3109022"/>
            <a:ext cx="28860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34961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Let’s step inside the Prism.</a:t>
            </a:r>
            <a:endParaRPr lang="en-US" sz="1800" b="0" i="0" u="none" strike="noStrike" cap="none">
              <a:solidFill>
                <a:srgbClr val="434961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pic>
        <p:nvPicPr>
          <p:cNvPr id="335" name="Google Shape;335;p23" descr="image.png">
            <a:hlinkClick r:id="rId3" action="ppaction://hlinkfile"/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429250" y="3953627"/>
            <a:ext cx="1333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 descr="image.png">
            <a:hlinkClick r:id="rId5" action="ppaction://hlinkfile"/>
          </p:cNvPr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972175" y="4391777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1647825"/>
            <a:ext cx="10858500" cy="3640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858422" y="20383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" y="6029325"/>
            <a:ext cx="10858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4"/>
          <p:cNvSpPr txBox="1"/>
          <p:nvPr/>
        </p:nvSpPr>
        <p:spPr>
          <a:xfrm>
            <a:off x="666750" y="6181725"/>
            <a:ext cx="36195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Scan to try the beta. Built for the Developer Hackathon 2026.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11401425" y="6181725"/>
            <a:ext cx="400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5C627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13</a:t>
            </a:r>
            <a:endParaRPr lang="en-US" sz="975" b="0" i="0" u="none" strike="noStrike" cap="none">
              <a:solidFill>
                <a:srgbClr val="5C627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47" name="Google Shape;347;p24"/>
          <p:cNvSpPr txBox="1"/>
          <p:nvPr/>
        </p:nvSpPr>
        <p:spPr>
          <a:xfrm>
            <a:off x="1057275" y="2192684"/>
            <a:ext cx="570150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02C"/>
                </a:solidFill>
                <a:latin typeface="Outfit"/>
                <a:ea typeface="Outfit"/>
                <a:cs typeface="Outfit"/>
                <a:sym typeface="Outfit"/>
              </a:rPr>
              <a:t>The Visionaries Behind </a:t>
            </a:r>
            <a:r>
              <a:rPr lang="en-US" sz="2550" b="1" i="0" u="none" strike="noStrike" cap="none">
                <a:solidFill>
                  <a:srgbClr val="7C4DFF"/>
                </a:solidFill>
                <a:latin typeface="Outfit"/>
                <a:ea typeface="Outfit"/>
                <a:cs typeface="Outfit"/>
                <a:sym typeface="Outfit"/>
              </a:rPr>
              <a:t>PrismLearning</a:t>
            </a:r>
            <a:endParaRPr b="1">
              <a:solidFill>
                <a:srgbClr val="7C4DFF"/>
              </a:solidFill>
            </a:endParaRPr>
          </a:p>
        </p:txBody>
      </p:sp>
      <p:sp>
        <p:nvSpPr>
          <p:cNvPr id="348" name="Google Shape;348;p24"/>
          <p:cNvSpPr txBox="1"/>
          <p:nvPr/>
        </p:nvSpPr>
        <p:spPr>
          <a:xfrm>
            <a:off x="1057275" y="3154709"/>
            <a:ext cx="5429994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02C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We are looking for seed-stage feedback and beta testers to break our Agentic Engine.</a:t>
            </a:r>
            <a:endParaRPr lang="en-US" sz="1350" b="0" i="0" u="none" strike="noStrike" cap="none">
              <a:solidFill>
                <a:srgbClr val="1E202C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  <p:pic>
        <p:nvPicPr>
          <p:cNvPr id="349" name="Google Shape;349;p2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57275" y="394141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4"/>
          <p:cNvSpPr txBox="1"/>
          <p:nvPr/>
        </p:nvSpPr>
        <p:spPr>
          <a:xfrm>
            <a:off x="1428750" y="3941425"/>
            <a:ext cx="285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D3142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patrickilagan.dev@gmail.com</a:t>
            </a:r>
            <a:endParaRPr lang="en-US" sz="1200">
              <a:solidFill>
                <a:srgbClr val="2D3142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1428750" y="4272925"/>
            <a:ext cx="59736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1E202C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John Patrick Ilagan - Student Founder &amp; Full-Stack Architect</a:t>
            </a:r>
            <a:endParaRPr sz="1200" b="1">
              <a:solidFill>
                <a:srgbClr val="1E202C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7C4DFF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“Built out of personal necessity because </a:t>
            </a:r>
            <a:endParaRPr sz="1200" i="1">
              <a:solidFill>
                <a:srgbClr val="7C4DFF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>
                <a:solidFill>
                  <a:srgbClr val="7C4DFF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current study tools are fundamentally broken."</a:t>
            </a:r>
            <a:endParaRPr sz="1200" i="1">
              <a:solidFill>
                <a:srgbClr val="7C4D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4771</Words>
  <Application>WPS Presentation</Application>
  <PresentationFormat/>
  <Paragraphs>244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Inter</vt:lpstr>
      <vt:lpstr>Outfit ExtraBold</vt:lpstr>
      <vt:lpstr>Inter Medium</vt:lpstr>
      <vt:lpstr>Outfit ExtraBold</vt:lpstr>
      <vt:lpstr>Outfit</vt:lpstr>
      <vt:lpstr>Outfit SemiBold</vt:lpstr>
      <vt:lpstr>Inter SemiBold</vt:lpstr>
      <vt:lpstr>Microsoft YaHei</vt:lpstr>
      <vt:lpstr>Arial Unicode MS</vt:lpstr>
      <vt:lpstr>Outfit</vt:lpstr>
      <vt:lpstr>Outfit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My PC</cp:lastModifiedBy>
  <cp:revision>7</cp:revision>
  <dcterms:created xsi:type="dcterms:W3CDTF">2026-07-10T15:38:00Z</dcterms:created>
  <dcterms:modified xsi:type="dcterms:W3CDTF">2026-07-13T11:09:58Z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104F9651828649E29F321F2514967B69_13</vt:lpwstr>
  </property>
  <property fmtid="{D5CDD505-2E9C-101B-9397-08002B2CF9AE}" pid="3" name="KSOProductBuildVer">
    <vt:lpwstr>1033-12.1.0.27455</vt:lpwstr>
  </property>
</Properties>
</file>