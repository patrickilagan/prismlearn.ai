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377440"/>
            <a:ext cx="10058400" cy="1005840"/>
          </a:xfrm>
          <a:prstGeom prst="rect">
            <a:avLst/>
          </a:prstGeom>
          <a:noFill/>
        </p:spPr>
        <p:txBody>
          <a:bodyPr wrap="none">
            <a:spAutoFit/>
          </a:bodyPr>
          <a:lstStyle/>
          <a:p>
            <a:pPr>
              <a:defRPr sz="4400" b="1">
                <a:solidFill>
                  <a:srgbClr val="4C1D95"/>
                </a:solidFill>
              </a:defRPr>
            </a:pPr>
            <a:r>
              <a:t>Astronomy: Our Solar System</a:t>
            </a:r>
          </a:p>
        </p:txBody>
      </p:sp>
      <p:sp>
        <p:nvSpPr>
          <p:cNvPr id="3" name="TextBox 2"/>
          <p:cNvSpPr txBox="1"/>
          <p:nvPr/>
        </p:nvSpPr>
        <p:spPr>
          <a:xfrm>
            <a:off x="914400" y="3383280"/>
            <a:ext cx="10058400" cy="731520"/>
          </a:xfrm>
          <a:prstGeom prst="rect">
            <a:avLst/>
          </a:prstGeom>
          <a:noFill/>
        </p:spPr>
        <p:txBody>
          <a:bodyPr wrap="none">
            <a:spAutoFit/>
          </a:bodyPr>
          <a:lstStyle/>
          <a:p>
            <a:pPr>
              <a:defRPr sz="2000">
                <a:solidFill>
                  <a:srgbClr val="6B7280"/>
                </a:solidFill>
              </a:defRPr>
            </a:pPr>
            <a:r>
              <a:t>An Introductory Survey of the Eight Planets</a:t>
            </a:r>
          </a:p>
        </p:txBody>
      </p:sp>
      <p:pic>
        <p:nvPicPr>
          <p:cNvPr id="4" name="Picture 3" descr="solar_system_overview.png"/>
          <p:cNvPicPr>
            <a:picLocks noChangeAspect="1"/>
          </p:cNvPicPr>
          <p:nvPr/>
        </p:nvPicPr>
        <p:blipFill>
          <a:blip r:embed="rId2"/>
          <a:stretch>
            <a:fillRect/>
          </a:stretch>
        </p:blipFill>
        <p:spPr>
          <a:xfrm>
            <a:off x="914400" y="4297680"/>
            <a:ext cx="10332720" cy="274371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1005840"/>
          </a:xfrm>
          <a:prstGeom prst="rect">
            <a:avLst/>
          </a:prstGeom>
          <a:noFill/>
        </p:spPr>
        <p:txBody>
          <a:bodyPr wrap="none">
            <a:spAutoFit/>
          </a:bodyPr>
          <a:lstStyle/>
          <a:p>
            <a:pPr>
              <a:defRPr sz="3400" b="1">
                <a:solidFill>
                  <a:srgbClr val="4C1D95"/>
                </a:solidFill>
              </a:defRPr>
            </a:pPr>
            <a:r>
              <a:t>Mercury &amp; Venus — The Inner Rocky Worlds</a:t>
            </a:r>
          </a:p>
        </p:txBody>
      </p:sp>
      <p:sp>
        <p:nvSpPr>
          <p:cNvPr id="3" name="TextBox 2"/>
          <p:cNvSpPr txBox="1"/>
          <p:nvPr/>
        </p:nvSpPr>
        <p:spPr>
          <a:xfrm>
            <a:off x="640080" y="1554480"/>
            <a:ext cx="5120640" cy="4572000"/>
          </a:xfrm>
          <a:prstGeom prst="rect">
            <a:avLst/>
          </a:prstGeom>
          <a:noFill/>
        </p:spPr>
        <p:txBody>
          <a:bodyPr wrap="square">
            <a:spAutoFit/>
          </a:bodyPr>
          <a:lstStyle/>
          <a:p>
            <a:pPr>
              <a:defRPr sz="1600">
                <a:solidFill>
                  <a:srgbClr val="334155"/>
                </a:solidFill>
              </a:defRPr>
            </a:pPr>
            <a:r>
              <a:t>Mercury is the smallest planet and closest to the Sun, with almost no atmosphere and extreme temperature swings between day and night.</a:t>
            </a:r>
          </a:p>
          <a:p>
            <a:pPr>
              <a:spcBef>
                <a:spcPts val="600"/>
              </a:spcBef>
              <a:defRPr sz="1600">
                <a:solidFill>
                  <a:srgbClr val="334155"/>
                </a:solidFill>
              </a:defRPr>
            </a:pPr>
          </a:p>
          <a:p>
            <a:pPr>
              <a:spcBef>
                <a:spcPts val="600"/>
              </a:spcBef>
              <a:defRPr sz="1600">
                <a:solidFill>
                  <a:srgbClr val="334155"/>
                </a:solidFill>
              </a:defRPr>
            </a:pPr>
            <a:r>
              <a:t>Venus is similar in size to Earth but has a thick, toxic atmosphere of carbon dioxide that traps heat, making it the hottest planet in the solar system despite being farther from the Sun than Mercury.</a:t>
            </a:r>
          </a:p>
        </p:txBody>
      </p:sp>
      <p:pic>
        <p:nvPicPr>
          <p:cNvPr id="4" name="Picture 3" descr="planet_mercury.png"/>
          <p:cNvPicPr>
            <a:picLocks noChangeAspect="1"/>
          </p:cNvPicPr>
          <p:nvPr/>
        </p:nvPicPr>
        <p:blipFill>
          <a:blip r:embed="rId2"/>
          <a:stretch>
            <a:fillRect/>
          </a:stretch>
        </p:blipFill>
        <p:spPr>
          <a:xfrm>
            <a:off x="6400800" y="1463040"/>
            <a:ext cx="2377440" cy="2377440"/>
          </a:xfrm>
          <a:prstGeom prst="rect">
            <a:avLst/>
          </a:prstGeom>
        </p:spPr>
      </p:pic>
      <p:pic>
        <p:nvPicPr>
          <p:cNvPr id="5" name="Picture 4" descr="planet_venus.png"/>
          <p:cNvPicPr>
            <a:picLocks noChangeAspect="1"/>
          </p:cNvPicPr>
          <p:nvPr/>
        </p:nvPicPr>
        <p:blipFill>
          <a:blip r:embed="rId3"/>
          <a:stretch>
            <a:fillRect/>
          </a:stretch>
        </p:blipFill>
        <p:spPr>
          <a:xfrm>
            <a:off x="9052560" y="1463040"/>
            <a:ext cx="2560320" cy="25603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1005840"/>
          </a:xfrm>
          <a:prstGeom prst="rect">
            <a:avLst/>
          </a:prstGeom>
          <a:noFill/>
        </p:spPr>
        <p:txBody>
          <a:bodyPr wrap="none">
            <a:spAutoFit/>
          </a:bodyPr>
          <a:lstStyle/>
          <a:p>
            <a:pPr>
              <a:defRPr sz="3400" b="1">
                <a:solidFill>
                  <a:srgbClr val="4C1D95"/>
                </a:solidFill>
              </a:defRPr>
            </a:pPr>
            <a:r>
              <a:t>Earth — The Blue Planet</a:t>
            </a:r>
          </a:p>
        </p:txBody>
      </p:sp>
      <p:sp>
        <p:nvSpPr>
          <p:cNvPr id="3" name="TextBox 2"/>
          <p:cNvSpPr txBox="1"/>
          <p:nvPr/>
        </p:nvSpPr>
        <p:spPr>
          <a:xfrm>
            <a:off x="640080" y="1554480"/>
            <a:ext cx="5120640" cy="4572000"/>
          </a:xfrm>
          <a:prstGeom prst="rect">
            <a:avLst/>
          </a:prstGeom>
          <a:noFill/>
        </p:spPr>
        <p:txBody>
          <a:bodyPr wrap="square">
            <a:spAutoFit/>
          </a:bodyPr>
          <a:lstStyle/>
          <a:p>
            <a:pPr>
              <a:defRPr sz="1600">
                <a:solidFill>
                  <a:srgbClr val="334155"/>
                </a:solidFill>
              </a:defRPr>
            </a:pPr>
            <a:r>
              <a:t>Earth is the only known planet to support life, thanks to liquid water, a protective atmosphere, and a moderate distance from the Sun known as the habitable zone.</a:t>
            </a:r>
          </a:p>
          <a:p>
            <a:pPr>
              <a:spcBef>
                <a:spcPts val="600"/>
              </a:spcBef>
              <a:defRPr sz="1600">
                <a:solidFill>
                  <a:srgbClr val="334155"/>
                </a:solidFill>
              </a:defRPr>
            </a:pPr>
          </a:p>
          <a:p>
            <a:pPr>
              <a:spcBef>
                <a:spcPts val="600"/>
              </a:spcBef>
              <a:defRPr sz="1600">
                <a:solidFill>
                  <a:srgbClr val="334155"/>
                </a:solidFill>
              </a:defRPr>
            </a:pPr>
            <a:r>
              <a:t>Earth's axial tilt of about 23.5 degrees is responsible for the seasons, and its single large moon stabilizes that tilt over long timescales.</a:t>
            </a:r>
          </a:p>
        </p:txBody>
      </p:sp>
      <p:pic>
        <p:nvPicPr>
          <p:cNvPr id="4" name="Picture 3" descr="planet_earth.png"/>
          <p:cNvPicPr>
            <a:picLocks noChangeAspect="1"/>
          </p:cNvPicPr>
          <p:nvPr/>
        </p:nvPicPr>
        <p:blipFill>
          <a:blip r:embed="rId2"/>
          <a:stretch>
            <a:fillRect/>
          </a:stretch>
        </p:blipFill>
        <p:spPr>
          <a:xfrm>
            <a:off x="7589520" y="1280160"/>
            <a:ext cx="3931920" cy="3931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1005840"/>
          </a:xfrm>
          <a:prstGeom prst="rect">
            <a:avLst/>
          </a:prstGeom>
          <a:noFill/>
        </p:spPr>
        <p:txBody>
          <a:bodyPr wrap="none">
            <a:spAutoFit/>
          </a:bodyPr>
          <a:lstStyle/>
          <a:p>
            <a:pPr>
              <a:defRPr sz="3400" b="1">
                <a:solidFill>
                  <a:srgbClr val="4C1D95"/>
                </a:solidFill>
              </a:defRPr>
            </a:pPr>
            <a:r>
              <a:t>Mars — The Red Planet</a:t>
            </a:r>
          </a:p>
        </p:txBody>
      </p:sp>
      <p:sp>
        <p:nvSpPr>
          <p:cNvPr id="3" name="TextBox 2"/>
          <p:cNvSpPr txBox="1"/>
          <p:nvPr/>
        </p:nvSpPr>
        <p:spPr>
          <a:xfrm>
            <a:off x="640080" y="1554480"/>
            <a:ext cx="5120640" cy="4572000"/>
          </a:xfrm>
          <a:prstGeom prst="rect">
            <a:avLst/>
          </a:prstGeom>
          <a:noFill/>
        </p:spPr>
        <p:txBody>
          <a:bodyPr wrap="square">
            <a:spAutoFit/>
          </a:bodyPr>
          <a:lstStyle/>
          <a:p>
            <a:pPr>
              <a:defRPr sz="1600">
                <a:solidFill>
                  <a:srgbClr val="334155"/>
                </a:solidFill>
              </a:defRPr>
            </a:pPr>
            <a:r>
              <a:t>Mars gets its reddish color from iron oxide (rust) covering its surface. It has the largest volcano in the solar system, Olympus Mons, and a canyon system, Valles Marineris, that dwarfs the Grand Canyon.</a:t>
            </a:r>
          </a:p>
          <a:p>
            <a:pPr>
              <a:spcBef>
                <a:spcPts val="600"/>
              </a:spcBef>
              <a:defRPr sz="1600">
                <a:solidFill>
                  <a:srgbClr val="334155"/>
                </a:solidFill>
              </a:defRPr>
            </a:pPr>
          </a:p>
          <a:p>
            <a:pPr>
              <a:spcBef>
                <a:spcPts val="600"/>
              </a:spcBef>
              <a:defRPr sz="1600">
                <a:solidFill>
                  <a:srgbClr val="334155"/>
                </a:solidFill>
              </a:defRPr>
            </a:pPr>
            <a:r>
              <a:t>Evidence of ancient riverbeds and polar ice caps suggests Mars once had liquid water on its surface, making it a major target in the search for past microbial life.</a:t>
            </a:r>
          </a:p>
        </p:txBody>
      </p:sp>
      <p:pic>
        <p:nvPicPr>
          <p:cNvPr id="4" name="Picture 3" descr="planet_mars.png"/>
          <p:cNvPicPr>
            <a:picLocks noChangeAspect="1"/>
          </p:cNvPicPr>
          <p:nvPr/>
        </p:nvPicPr>
        <p:blipFill>
          <a:blip r:embed="rId2"/>
          <a:stretch>
            <a:fillRect/>
          </a:stretch>
        </p:blipFill>
        <p:spPr>
          <a:xfrm>
            <a:off x="7863840" y="1463040"/>
            <a:ext cx="3291840" cy="32918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1005840"/>
          </a:xfrm>
          <a:prstGeom prst="rect">
            <a:avLst/>
          </a:prstGeom>
          <a:noFill/>
        </p:spPr>
        <p:txBody>
          <a:bodyPr wrap="none">
            <a:spAutoFit/>
          </a:bodyPr>
          <a:lstStyle/>
          <a:p>
            <a:pPr>
              <a:defRPr sz="3400" b="1">
                <a:solidFill>
                  <a:srgbClr val="4C1D95"/>
                </a:solidFill>
              </a:defRPr>
            </a:pPr>
            <a:r>
              <a:t>Jupiter — King of the Planets</a:t>
            </a:r>
          </a:p>
        </p:txBody>
      </p:sp>
      <p:sp>
        <p:nvSpPr>
          <p:cNvPr id="3" name="TextBox 2"/>
          <p:cNvSpPr txBox="1"/>
          <p:nvPr/>
        </p:nvSpPr>
        <p:spPr>
          <a:xfrm>
            <a:off x="640080" y="1554480"/>
            <a:ext cx="5120640" cy="4572000"/>
          </a:xfrm>
          <a:prstGeom prst="rect">
            <a:avLst/>
          </a:prstGeom>
          <a:noFill/>
        </p:spPr>
        <p:txBody>
          <a:bodyPr wrap="square">
            <a:spAutoFit/>
          </a:bodyPr>
          <a:lstStyle/>
          <a:p>
            <a:pPr>
              <a:defRPr sz="1600">
                <a:solidFill>
                  <a:srgbClr val="334155"/>
                </a:solidFill>
              </a:defRPr>
            </a:pPr>
            <a:r>
              <a:t>Jupiter is the largest planet in the solar system — more than twice as massive as all other planets combined. It is a gas giant with no solid surface, dominated by swirling bands of clouds.</a:t>
            </a:r>
          </a:p>
          <a:p>
            <a:pPr>
              <a:spcBef>
                <a:spcPts val="600"/>
              </a:spcBef>
              <a:defRPr sz="1600">
                <a:solidFill>
                  <a:srgbClr val="334155"/>
                </a:solidFill>
              </a:defRPr>
            </a:pPr>
          </a:p>
          <a:p>
            <a:pPr>
              <a:spcBef>
                <a:spcPts val="600"/>
              </a:spcBef>
              <a:defRPr sz="1600">
                <a:solidFill>
                  <a:srgbClr val="334155"/>
                </a:solidFill>
              </a:defRPr>
            </a:pPr>
            <a:r>
              <a:t>Its Great Red Spot is a giant storm that has raged for at least 350 years, large enough to swallow Earth several times over.</a:t>
            </a:r>
          </a:p>
        </p:txBody>
      </p:sp>
      <p:pic>
        <p:nvPicPr>
          <p:cNvPr id="4" name="Picture 3" descr="planet_jupiter.png"/>
          <p:cNvPicPr>
            <a:picLocks noChangeAspect="1"/>
          </p:cNvPicPr>
          <p:nvPr/>
        </p:nvPicPr>
        <p:blipFill>
          <a:blip r:embed="rId2"/>
          <a:stretch>
            <a:fillRect/>
          </a:stretch>
        </p:blipFill>
        <p:spPr>
          <a:xfrm>
            <a:off x="6949440" y="1097280"/>
            <a:ext cx="4480560" cy="44805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1005840"/>
          </a:xfrm>
          <a:prstGeom prst="rect">
            <a:avLst/>
          </a:prstGeom>
          <a:noFill/>
        </p:spPr>
        <p:txBody>
          <a:bodyPr wrap="none">
            <a:spAutoFit/>
          </a:bodyPr>
          <a:lstStyle/>
          <a:p>
            <a:pPr>
              <a:defRPr sz="3400" b="1">
                <a:solidFill>
                  <a:srgbClr val="4C1D95"/>
                </a:solidFill>
              </a:defRPr>
            </a:pPr>
            <a:r>
              <a:t>Saturn — The Ringed Jewel</a:t>
            </a:r>
          </a:p>
        </p:txBody>
      </p:sp>
      <p:sp>
        <p:nvSpPr>
          <p:cNvPr id="3" name="TextBox 2"/>
          <p:cNvSpPr txBox="1"/>
          <p:nvPr/>
        </p:nvSpPr>
        <p:spPr>
          <a:xfrm>
            <a:off x="640080" y="1554480"/>
            <a:ext cx="5120640" cy="4572000"/>
          </a:xfrm>
          <a:prstGeom prst="rect">
            <a:avLst/>
          </a:prstGeom>
          <a:noFill/>
        </p:spPr>
        <p:txBody>
          <a:bodyPr wrap="square">
            <a:spAutoFit/>
          </a:bodyPr>
          <a:lstStyle/>
          <a:p>
            <a:pPr>
              <a:defRPr sz="1600">
                <a:solidFill>
                  <a:srgbClr val="334155"/>
                </a:solidFill>
              </a:defRPr>
            </a:pPr>
            <a:r>
              <a:t>Saturn is best known for its spectacular ring system, made almost entirely of ice particles ranging from tiny grains to house-sized chunks, held in place by the gravity of its many moons.</a:t>
            </a:r>
          </a:p>
          <a:p>
            <a:pPr>
              <a:spcBef>
                <a:spcPts val="600"/>
              </a:spcBef>
              <a:defRPr sz="1600">
                <a:solidFill>
                  <a:srgbClr val="334155"/>
                </a:solidFill>
              </a:defRPr>
            </a:pPr>
          </a:p>
          <a:p>
            <a:pPr>
              <a:spcBef>
                <a:spcPts val="600"/>
              </a:spcBef>
              <a:defRPr sz="1600">
                <a:solidFill>
                  <a:srgbClr val="334155"/>
                </a:solidFill>
              </a:defRPr>
            </a:pPr>
            <a:r>
              <a:t>Like Jupiter, Saturn is a gas giant made mostly of hydrogen and helium, and it is so much less dense than water that it would theoretically float in a large enough ocean.</a:t>
            </a:r>
          </a:p>
        </p:txBody>
      </p:sp>
      <p:pic>
        <p:nvPicPr>
          <p:cNvPr id="4" name="Picture 3" descr="planet_saturn.png"/>
          <p:cNvPicPr>
            <a:picLocks noChangeAspect="1"/>
          </p:cNvPicPr>
          <p:nvPr/>
        </p:nvPicPr>
        <p:blipFill>
          <a:blip r:embed="rId2"/>
          <a:stretch>
            <a:fillRect/>
          </a:stretch>
        </p:blipFill>
        <p:spPr>
          <a:xfrm>
            <a:off x="6675120" y="914400"/>
            <a:ext cx="4846320" cy="48463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1005840"/>
          </a:xfrm>
          <a:prstGeom prst="rect">
            <a:avLst/>
          </a:prstGeom>
          <a:noFill/>
        </p:spPr>
        <p:txBody>
          <a:bodyPr wrap="none">
            <a:spAutoFit/>
          </a:bodyPr>
          <a:lstStyle/>
          <a:p>
            <a:pPr>
              <a:defRPr sz="3400" b="1">
                <a:solidFill>
                  <a:srgbClr val="4C1D95"/>
                </a:solidFill>
              </a:defRPr>
            </a:pPr>
            <a:r>
              <a:t>Uranus &amp; Neptune — The Ice Giants</a:t>
            </a:r>
          </a:p>
        </p:txBody>
      </p:sp>
      <p:sp>
        <p:nvSpPr>
          <p:cNvPr id="3" name="TextBox 2"/>
          <p:cNvSpPr txBox="1"/>
          <p:nvPr/>
        </p:nvSpPr>
        <p:spPr>
          <a:xfrm>
            <a:off x="640080" y="1554480"/>
            <a:ext cx="5120640" cy="4572000"/>
          </a:xfrm>
          <a:prstGeom prst="rect">
            <a:avLst/>
          </a:prstGeom>
          <a:noFill/>
        </p:spPr>
        <p:txBody>
          <a:bodyPr wrap="square">
            <a:spAutoFit/>
          </a:bodyPr>
          <a:lstStyle/>
          <a:p>
            <a:pPr>
              <a:defRPr sz="1600">
                <a:solidFill>
                  <a:srgbClr val="334155"/>
                </a:solidFill>
              </a:defRPr>
            </a:pPr>
            <a:r>
              <a:t>Uranus is unique for rotating almost completely on its side, likely the result of an ancient collision. Its pale blue-green color comes from methane in its atmosphere absorbing red light.</a:t>
            </a:r>
          </a:p>
          <a:p>
            <a:pPr>
              <a:spcBef>
                <a:spcPts val="600"/>
              </a:spcBef>
              <a:defRPr sz="1600">
                <a:solidFill>
                  <a:srgbClr val="334155"/>
                </a:solidFill>
              </a:defRPr>
            </a:pPr>
          </a:p>
          <a:p>
            <a:pPr>
              <a:spcBef>
                <a:spcPts val="600"/>
              </a:spcBef>
              <a:defRPr sz="1600">
                <a:solidFill>
                  <a:srgbClr val="334155"/>
                </a:solidFill>
              </a:defRPr>
            </a:pPr>
            <a:r>
              <a:t>Neptune, the most distant planet, has the fastest winds in the solar system, reaching over 1,200 miles per hour, and was the first planet located through mathematical prediction rather than direct observation.</a:t>
            </a:r>
          </a:p>
        </p:txBody>
      </p:sp>
      <p:pic>
        <p:nvPicPr>
          <p:cNvPr id="4" name="Picture 3" descr="planet_uranus.png"/>
          <p:cNvPicPr>
            <a:picLocks noChangeAspect="1"/>
          </p:cNvPicPr>
          <p:nvPr/>
        </p:nvPicPr>
        <p:blipFill>
          <a:blip r:embed="rId2"/>
          <a:stretch>
            <a:fillRect/>
          </a:stretch>
        </p:blipFill>
        <p:spPr>
          <a:xfrm>
            <a:off x="6949440" y="1371600"/>
            <a:ext cx="2468880" cy="2468880"/>
          </a:xfrm>
          <a:prstGeom prst="rect">
            <a:avLst/>
          </a:prstGeom>
        </p:spPr>
      </p:pic>
      <p:pic>
        <p:nvPicPr>
          <p:cNvPr id="5" name="Picture 4" descr="planet_neptune.png"/>
          <p:cNvPicPr>
            <a:picLocks noChangeAspect="1"/>
          </p:cNvPicPr>
          <p:nvPr/>
        </p:nvPicPr>
        <p:blipFill>
          <a:blip r:embed="rId3"/>
          <a:stretch>
            <a:fillRect/>
          </a:stretch>
        </p:blipFill>
        <p:spPr>
          <a:xfrm>
            <a:off x="9509760" y="1371600"/>
            <a:ext cx="2377440" cy="23774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1005840"/>
          </a:xfrm>
          <a:prstGeom prst="rect">
            <a:avLst/>
          </a:prstGeom>
          <a:noFill/>
        </p:spPr>
        <p:txBody>
          <a:bodyPr wrap="none">
            <a:spAutoFit/>
          </a:bodyPr>
          <a:lstStyle/>
          <a:p>
            <a:pPr>
              <a:defRPr sz="3400" b="1">
                <a:solidFill>
                  <a:srgbClr val="4C1D95"/>
                </a:solidFill>
              </a:defRPr>
            </a:pPr>
            <a:r>
              <a:t>Recap: The Eight Planets in Order</a:t>
            </a:r>
          </a:p>
        </p:txBody>
      </p:sp>
      <p:sp>
        <p:nvSpPr>
          <p:cNvPr id="3" name="TextBox 2"/>
          <p:cNvSpPr txBox="1"/>
          <p:nvPr/>
        </p:nvSpPr>
        <p:spPr>
          <a:xfrm>
            <a:off x="640080" y="1554480"/>
            <a:ext cx="7315200" cy="4572000"/>
          </a:xfrm>
          <a:prstGeom prst="rect">
            <a:avLst/>
          </a:prstGeom>
          <a:noFill/>
        </p:spPr>
        <p:txBody>
          <a:bodyPr wrap="square">
            <a:spAutoFit/>
          </a:bodyPr>
          <a:lstStyle/>
          <a:p>
            <a:pPr>
              <a:defRPr sz="1800">
                <a:solidFill>
                  <a:srgbClr val="334155"/>
                </a:solidFill>
              </a:defRPr>
            </a:pPr>
            <a:r>
              <a:t>1. Mercury — smallest, closest to the Sun</a:t>
            </a:r>
          </a:p>
          <a:p>
            <a:pPr>
              <a:spcBef>
                <a:spcPts val="600"/>
              </a:spcBef>
              <a:defRPr sz="1800">
                <a:solidFill>
                  <a:srgbClr val="334155"/>
                </a:solidFill>
              </a:defRPr>
            </a:pPr>
            <a:r>
              <a:t>2. Venus — hottest, thick toxic atmosphere</a:t>
            </a:r>
          </a:p>
          <a:p>
            <a:pPr>
              <a:spcBef>
                <a:spcPts val="600"/>
              </a:spcBef>
              <a:defRPr sz="1800">
                <a:solidFill>
                  <a:srgbClr val="334155"/>
                </a:solidFill>
              </a:defRPr>
            </a:pPr>
            <a:r>
              <a:t>3. Earth — only known planet with life</a:t>
            </a:r>
          </a:p>
          <a:p>
            <a:pPr>
              <a:spcBef>
                <a:spcPts val="600"/>
              </a:spcBef>
              <a:defRPr sz="1800">
                <a:solidFill>
                  <a:srgbClr val="334155"/>
                </a:solidFill>
              </a:defRPr>
            </a:pPr>
            <a:r>
              <a:t>4. Mars — the Red Planet, evidence of ancient water</a:t>
            </a:r>
          </a:p>
          <a:p>
            <a:pPr>
              <a:spcBef>
                <a:spcPts val="600"/>
              </a:spcBef>
              <a:defRPr sz="1800">
                <a:solidFill>
                  <a:srgbClr val="334155"/>
                </a:solidFill>
              </a:defRPr>
            </a:pPr>
            <a:r>
              <a:t>5. Jupiter — largest planet, Great Red Spot</a:t>
            </a:r>
          </a:p>
          <a:p>
            <a:pPr>
              <a:spcBef>
                <a:spcPts val="600"/>
              </a:spcBef>
              <a:defRPr sz="1800">
                <a:solidFill>
                  <a:srgbClr val="334155"/>
                </a:solidFill>
              </a:defRPr>
            </a:pPr>
            <a:r>
              <a:t>6. Saturn — spectacular ring system</a:t>
            </a:r>
          </a:p>
          <a:p>
            <a:pPr>
              <a:spcBef>
                <a:spcPts val="600"/>
              </a:spcBef>
              <a:defRPr sz="1800">
                <a:solidFill>
                  <a:srgbClr val="334155"/>
                </a:solidFill>
              </a:defRPr>
            </a:pPr>
            <a:r>
              <a:t>7. Uranus — rotates on its side</a:t>
            </a:r>
          </a:p>
          <a:p>
            <a:pPr>
              <a:spcBef>
                <a:spcPts val="600"/>
              </a:spcBef>
              <a:defRPr sz="1800">
                <a:solidFill>
                  <a:srgbClr val="334155"/>
                </a:solidFill>
              </a:defRPr>
            </a:pPr>
            <a:r>
              <a:t>8. Neptune — fastest winds, most distant</a:t>
            </a:r>
          </a:p>
        </p:txBody>
      </p:sp>
      <p:pic>
        <p:nvPicPr>
          <p:cNvPr id="4" name="Picture 3" descr="solar_system_overview.png"/>
          <p:cNvPicPr>
            <a:picLocks noChangeAspect="1"/>
          </p:cNvPicPr>
          <p:nvPr/>
        </p:nvPicPr>
        <p:blipFill>
          <a:blip r:embed="rId2"/>
          <a:stretch>
            <a:fillRect/>
          </a:stretch>
        </p:blipFill>
        <p:spPr>
          <a:xfrm>
            <a:off x="822960" y="5120640"/>
            <a:ext cx="10515600" cy="279227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